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66" r:id="rId6"/>
  </p:sldMasterIdLst>
  <p:handoutMasterIdLst>
    <p:handoutMasterId r:id="rId8"/>
  </p:handoutMasterIdLst>
  <p:sldIdLst>
    <p:sldId id="256" r:id="rId10"/>
    <p:sldId id="294" r:id="rId11"/>
    <p:sldId id="291" r:id="rId12"/>
    <p:sldId id="292" r:id="rId13"/>
    <p:sldId id="296" r:id="rId14"/>
    <p:sldId id="298" r:id="rId15"/>
    <p:sldId id="299" r:id="rId16"/>
    <p:sldId id="300" r:id="rId17"/>
  </p:sldIdLst>
  <p:sldSz cx="12192000" cy="6858000"/>
  <p:notesSz cx="6797675" cy="992695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30326B"/>
    <a:srgbClr val="D4EFFB"/>
    <a:srgbClr val="15BBB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883" autoAdjust="0"/>
    <p:restoredTop sz="95214" autoAdjust="0"/>
  </p:normalViewPr>
  <p:slideViewPr>
    <p:cSldViewPr snapToGrid="0" snapToObjects="1">
      <p:cViewPr varScale="1">
        <p:scale>
          <a:sx n="114" d="100"/>
          <a:sy n="114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6" Type="http://schemas.openxmlformats.org/officeDocument/2006/relationships/slideMaster" Target="slideMasters/slideMaster1.xml"></Relationship><Relationship Id="rId7" Type="http://schemas.openxmlformats.org/officeDocument/2006/relationships/theme" Target="theme/theme1.xml"></Relationship><Relationship Id="rId8" Type="http://schemas.openxmlformats.org/officeDocument/2006/relationships/handoutMaster" Target="handoutMasters/handoutMaster1.xml"></Relationship><Relationship Id="rId10" Type="http://schemas.openxmlformats.org/officeDocument/2006/relationships/slide" Target="slides/slide1.xml"></Relationship><Relationship Id="rId11" Type="http://schemas.openxmlformats.org/officeDocument/2006/relationships/slide" Target="slides/slide2.xml"></Relationship><Relationship Id="rId12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4" Type="http://schemas.openxmlformats.org/officeDocument/2006/relationships/slide" Target="slides/slide5.xml"></Relationship><Relationship Id="rId15" Type="http://schemas.openxmlformats.org/officeDocument/2006/relationships/slide" Target="slides/slide6.xml"></Relationship><Relationship Id="rId16" Type="http://schemas.openxmlformats.org/officeDocument/2006/relationships/slide" Target="slides/slide7.xml"></Relationship><Relationship Id="rId17" Type="http://schemas.openxmlformats.org/officeDocument/2006/relationships/slide" Target="slides/slide8.xml"></Relationship><Relationship Id="rId18" Type="http://schemas.openxmlformats.org/officeDocument/2006/relationships/viewProps" Target="viewProps.xml"></Relationship><Relationship Id="rId19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8F563-97E0-4F60-848F-AF03D87933BB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C07B2-601B-4C26-AF31-B89FCCACB7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487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/>
          <p:cNvSpPr>
            <a:spLocks noChangeArrowheads="1"/>
          </p:cNvSpPr>
          <p:nvPr/>
        </p:nvSpPr>
        <p:spPr bwMode="auto">
          <a:xfrm flipV="1">
            <a:off x="421217" y="3048001"/>
            <a:ext cx="11590867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just" eaLnBrk="1" latinLnBrk="1" hangingPunct="1">
              <a:spcBef>
                <a:spcPct val="30000"/>
              </a:spcBef>
              <a:buSzPct val="80000"/>
              <a:buFont typeface="Wingdings" panose="05000000000000000000" pitchFamily="2" charset="2"/>
              <a:buChar char="n"/>
              <a:defRPr/>
            </a:pPr>
            <a:endParaRPr lang="ko-KR" altLang="en-US" sz="1000"/>
          </a:p>
        </p:txBody>
      </p:sp>
      <p:sp>
        <p:nvSpPr>
          <p:cNvPr id="145411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1117600" y="16002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45412" name="Rectangle 1028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ftr" sz="quarter" idx="10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550400" y="63246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A329401-BE3D-49A7-9A7F-B5A7535319D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2053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9B798CC2-FF88-47BC-A72E-054D4EDB8C4F}" type="datetimeFigureOut">
              <a:rPr lang="ko-KR" altLang="en-US" smtClean="0"/>
              <a:t>2026-05-14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48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205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798CC2-FF88-47BC-A72E-054D4EDB8C4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Rectangle 205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Rectangle 205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329401-BE3D-49A7-9A7F-B5A753531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210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1333" y="128588"/>
            <a:ext cx="6891867" cy="533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495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9290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2B847F-6709-465E-9431-3E1D5640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98CC2-FF88-47BC-A72E-054D4EDB8C4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4EAEDA-D129-4F8A-B643-EFA52CD71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F28499-B9E6-42F6-A0E9-C8DDF5C0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9401-BE3D-49A7-9A7F-B5A7535319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2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/>
          <p:cNvSpPr>
            <a:spLocks noChangeArrowheads="1"/>
          </p:cNvSpPr>
          <p:nvPr/>
        </p:nvSpPr>
        <p:spPr bwMode="gray">
          <a:xfrm>
            <a:off x="590551" y="1066800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  <p:sp>
        <p:nvSpPr>
          <p:cNvPr id="1027" name="Rectangle 2051"/>
          <p:cNvSpPr>
            <a:spLocks noGrp="1" noChangeArrowheads="1"/>
          </p:cNvSpPr>
          <p:nvPr>
            <p:ph type="title"/>
          </p:nvPr>
        </p:nvSpPr>
        <p:spPr bwMode="auto">
          <a:xfrm>
            <a:off x="654052" y="228600"/>
            <a:ext cx="11271249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Master </a:t>
            </a:r>
            <a:r>
              <a:rPr lang="ko-KR" altLang="en-US"/>
              <a:t>제목 스타일 편집</a:t>
            </a:r>
          </a:p>
        </p:txBody>
      </p:sp>
      <p:sp>
        <p:nvSpPr>
          <p:cNvPr id="1028" name="Rectangle 205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4051" y="1295401"/>
            <a:ext cx="11228916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Master </a:t>
            </a:r>
            <a:r>
              <a:rPr lang="ko-KR" altLang="en-US"/>
              <a:t>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44389" name="Rectangle 205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7367" y="6381751"/>
            <a:ext cx="4749800" cy="32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SzTx/>
              <a:buFontTx/>
              <a:buNone/>
              <a:defRPr kumimoji="0" sz="1400">
                <a:solidFill>
                  <a:schemeClr val="bg2"/>
                </a:solidFill>
                <a:latin typeface="Arial" charset="0"/>
                <a:ea typeface="굴림" charset="-127"/>
              </a:defRPr>
            </a:lvl1pPr>
          </a:lstStyle>
          <a:p>
            <a:fld id="{9B798CC2-FF88-47BC-A72E-054D4EDB8C4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144390" name="Rectangle 205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buSzTx/>
              <a:buFontTx/>
              <a:buNone/>
              <a:defRPr kumimoji="0" sz="1400">
                <a:latin typeface="굴림" charset="-127"/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44391" name="Rectangle 20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488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fld id="{0A329401-BE3D-49A7-9A7F-B5A7535319D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32" name="Rectangle 2056"/>
          <p:cNvSpPr>
            <a:spLocks noChangeArrowheads="1"/>
          </p:cNvSpPr>
          <p:nvPr/>
        </p:nvSpPr>
        <p:spPr bwMode="gray">
          <a:xfrm>
            <a:off x="584201" y="62912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spcBef>
                <a:spcPct val="3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n"/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 sz="2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84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굴림" pitchFamily="50" charset="-127"/>
        </a:defRPr>
      </a:lvl9pPr>
    </p:titleStyle>
    <p:bodyStyle>
      <a:lvl1pPr marL="288925" indent="-288925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663575" indent="-18415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054100" indent="-200025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;"/>
        <a:defRPr kumimoji="1">
          <a:solidFill>
            <a:schemeClr val="tx1"/>
          </a:solidFill>
          <a:latin typeface="+mn-lt"/>
          <a:ea typeface="+mn-ea"/>
        </a:defRPr>
      </a:lvl3pPr>
      <a:lvl4pPr marL="142875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CC00CC"/>
        </a:buClr>
        <a:buSzPct val="70000"/>
        <a:buFont typeface="Wingdings" panose="05000000000000000000" pitchFamily="2" charset="2"/>
        <a:buChar char="n"/>
        <a:defRPr kumimoji="1">
          <a:solidFill>
            <a:schemeClr val="tx1"/>
          </a:solidFill>
          <a:latin typeface="+mn-lt"/>
          <a:ea typeface="+mn-ea"/>
        </a:defRPr>
      </a:lvl4pPr>
      <a:lvl5pPr marL="180340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2E8A24"/>
        </a:buClr>
        <a:buSzPct val="70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5pPr>
      <a:lvl6pPr marL="226060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2E8A24"/>
        </a:buClr>
        <a:buSzPct val="70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6pPr>
      <a:lvl7pPr marL="271780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2E8A24"/>
        </a:buClr>
        <a:buSzPct val="70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7pPr>
      <a:lvl8pPr marL="317500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2E8A24"/>
        </a:buClr>
        <a:buSzPct val="70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8pPr>
      <a:lvl9pPr marL="3632200" indent="-184150" algn="l" rtl="0" eaLnBrk="1" fontAlgn="base" latinLnBrk="1" hangingPunct="1">
        <a:spcBef>
          <a:spcPct val="20000"/>
        </a:spcBef>
        <a:spcAft>
          <a:spcPct val="0"/>
        </a:spcAft>
        <a:buClr>
          <a:srgbClr val="2E8A24"/>
        </a:buClr>
        <a:buSzPct val="70000"/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image" Target="../media/fImage28350510.png"></Relationship><Relationship Id="rId2" Type="http://schemas.openxmlformats.org/officeDocument/2006/relationships/slideLayout" Target="../slideLayouts/slideLayout4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image" Target="../media/fImage38056872966.png"></Relationship><Relationship Id="rId3" Type="http://schemas.openxmlformats.org/officeDocument/2006/relationships/image" Target="../media/fImage3641988695.png"></Relationship><Relationship Id="rId4" Type="http://schemas.openxmlformats.org/officeDocument/2006/relationships/image" Target="../media/fImage37068899955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image" Target="../media/fImage35653937588.png"></Relationship><Relationship Id="rId3" Type="http://schemas.openxmlformats.org/officeDocument/2006/relationships/image" Target="../media/fImage36928944850.png"></Relationship><Relationship Id="rId4" Type="http://schemas.openxmlformats.org/officeDocument/2006/relationships/image" Target="../media/fImage36619957754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4.xml"></Relationship><Relationship Id="rId2" Type="http://schemas.openxmlformats.org/officeDocument/2006/relationships/image" Target="../media/fImage37201976700.png"></Relationship><Relationship Id="rId3" Type="http://schemas.openxmlformats.org/officeDocument/2006/relationships/image" Target="../media/fImage37892983628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>
            <a:extLst>
              <a:ext uri="{FF2B5EF4-FFF2-40B4-BE49-F238E27FC236}">
                <a16:creationId xmlns:a16="http://schemas.microsoft.com/office/drawing/2014/main" id="{2609288D-E41B-4A62-B5ED-135D679264E5}"/>
              </a:ext>
            </a:extLst>
          </p:cNvPr>
          <p:cNvSpPr txBox="1">
            <a:spLocks/>
          </p:cNvSpPr>
          <p:nvPr/>
        </p:nvSpPr>
        <p:spPr>
          <a:xfrm>
            <a:off x="1418429" y="2889517"/>
            <a:ext cx="9031279" cy="24441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3200" b="1" dirty="0" err="1">
                <a:solidFill>
                  <a:srgbClr val="15BBB3"/>
                </a:solidFill>
                <a:ea typeface="나눔고딕 ExtraBold" panose="020D0904000000000000" pitchFamily="50" charset="-127"/>
              </a:rPr>
              <a:t>딥러닝을</a:t>
            </a:r>
            <a:r>
              <a:rPr lang="ko-KR" altLang="en-US" sz="3200" b="1" dirty="0">
                <a:solidFill>
                  <a:srgbClr val="15BBB3"/>
                </a:solidFill>
                <a:ea typeface="나눔고딕 ExtraBold" panose="020D0904000000000000" pitchFamily="50" charset="-127"/>
              </a:rPr>
              <a:t> 이용한 마스크 착용 여부 분류 모델</a:t>
            </a:r>
            <a:endParaRPr lang="en-US" altLang="ko-KR" sz="3200" b="1" dirty="0">
              <a:solidFill>
                <a:srgbClr val="15BBB3"/>
              </a:solidFill>
              <a:ea typeface="나눔고딕 ExtraBold" panose="020D0904000000000000" pitchFamily="50" charset="-127"/>
            </a:endParaRPr>
          </a:p>
          <a:p>
            <a:pPr marL="0" indent="0" algn="ctr">
              <a:buNone/>
            </a:pPr>
            <a:endParaRPr lang="en-US" altLang="ko-KR" sz="3200" b="1" dirty="0">
              <a:solidFill>
                <a:srgbClr val="15BBB3"/>
              </a:solidFill>
              <a:ea typeface="나눔고딕 ExtraBold" panose="020D0904000000000000" pitchFamily="50" charset="-127"/>
            </a:endParaRPr>
          </a:p>
          <a:p>
            <a:pPr marL="0" indent="0" algn="ctr">
              <a:buNone/>
            </a:pPr>
            <a:r>
              <a:rPr lang="en-US" altLang="ko-KR" sz="3200" b="1" dirty="0">
                <a:solidFill>
                  <a:srgbClr val="15BBB3"/>
                </a:solidFill>
                <a:ea typeface="나눔고딕 ExtraBold" panose="020D0904000000000000" pitchFamily="50" charset="-127"/>
              </a:rPr>
              <a:t>							202538002</a:t>
            </a:r>
            <a:r>
              <a:rPr lang="ko-KR" altLang="en-US" sz="3200" b="1" dirty="0">
                <a:solidFill>
                  <a:srgbClr val="15BBB3"/>
                </a:solidFill>
                <a:ea typeface="나눔고딕 ExtraBold" panose="020D0904000000000000" pitchFamily="50" charset="-127"/>
              </a:rPr>
              <a:t> </a:t>
            </a:r>
            <a:endParaRPr lang="en-US" altLang="ko-KR" sz="3200" b="1" dirty="0">
              <a:solidFill>
                <a:srgbClr val="15BBB3"/>
              </a:solidFill>
              <a:ea typeface="나눔고딕 ExtraBold" panose="020D0904000000000000" pitchFamily="50" charset="-127"/>
            </a:endParaRPr>
          </a:p>
          <a:p>
            <a:pPr marL="0" indent="0" algn="ctr">
              <a:buNone/>
            </a:pPr>
            <a:r>
              <a:rPr lang="en-US" altLang="ko-KR" sz="3200" b="1" dirty="0">
                <a:solidFill>
                  <a:srgbClr val="15BBB3"/>
                </a:solidFill>
                <a:ea typeface="나눔고딕 ExtraBold" panose="020D0904000000000000" pitchFamily="50" charset="-127"/>
              </a:rPr>
              <a:t>								</a:t>
            </a:r>
            <a:r>
              <a:rPr lang="ko-KR" altLang="en-US" sz="3200" b="1" dirty="0">
                <a:solidFill>
                  <a:srgbClr val="15BBB3"/>
                </a:solidFill>
                <a:ea typeface="나눔고딕 ExtraBold" panose="020D0904000000000000" pitchFamily="50" charset="-127"/>
              </a:rPr>
              <a:t>김태현</a:t>
            </a:r>
            <a:endParaRPr lang="en-US" altLang="ko-KR" sz="3200" b="1" dirty="0">
              <a:solidFill>
                <a:srgbClr val="15BBB3"/>
              </a:solidFill>
              <a:ea typeface="나눔고딕 ExtraBold" panose="020D0904000000000000" pitchFamily="50" charset="-127"/>
            </a:endParaRPr>
          </a:p>
          <a:p>
            <a:pPr marL="0" indent="0" algn="ctr">
              <a:buNone/>
            </a:pPr>
            <a:endParaRPr lang="en-US" altLang="ko-KR" sz="3600" b="1" dirty="0">
              <a:solidFill>
                <a:srgbClr val="15BBB3"/>
              </a:solidFill>
              <a:ea typeface="나눔고딕 ExtraBold" panose="020D0904000000000000" pitchFamily="50" charset="-127"/>
            </a:endParaRPr>
          </a:p>
          <a:p>
            <a:pPr marL="0" indent="0" algn="ctr">
              <a:buNone/>
            </a:pPr>
            <a:endParaRPr lang="ko-KR" altLang="en-US" sz="3600" b="1" dirty="0"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762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7800C-898A-43C2-9C20-0391B979FDA8}"/>
              </a:ext>
            </a:extLst>
          </p:cNvPr>
          <p:cNvSpPr txBox="1"/>
          <p:nvPr/>
        </p:nvSpPr>
        <p:spPr>
          <a:xfrm>
            <a:off x="583552" y="477157"/>
            <a:ext cx="1101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0070C0"/>
                </a:solidFill>
              </a:rPr>
              <a:t>프로젝트 개요 </a:t>
            </a:r>
            <a:r>
              <a:rPr lang="en-US" altLang="ko-KR" sz="3200" b="1" dirty="0">
                <a:solidFill>
                  <a:srgbClr val="0070C0"/>
                </a:solidFill>
              </a:rPr>
              <a:t> </a:t>
            </a:r>
            <a:endParaRPr lang="ko-KR" altLang="en-US" sz="3200" b="1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40D53-9F4F-4856-8902-9DC1C3E38A31}"/>
              </a:ext>
            </a:extLst>
          </p:cNvPr>
          <p:cNvSpPr txBox="1"/>
          <p:nvPr/>
        </p:nvSpPr>
        <p:spPr>
          <a:xfrm>
            <a:off x="524256" y="1155192"/>
            <a:ext cx="965841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목적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딥러닝 기반 </a:t>
            </a:r>
            <a:r>
              <a:rPr lang="en-US" altLang="ko-KR" sz="2000" b="1" dirty="0">
                <a:solidFill>
                  <a:srgbClr val="0070C0"/>
                </a:solidFill>
              </a:rPr>
              <a:t>CNN </a:t>
            </a:r>
            <a:r>
              <a:rPr lang="ko-KR" altLang="en-US" sz="2000" b="1" dirty="0">
                <a:solidFill>
                  <a:srgbClr val="0070C0"/>
                </a:solidFill>
              </a:rPr>
              <a:t>모델을 활용하여 이미지에서 마스크 착용 여부를 자동으로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en-US" altLang="ko-KR" sz="2000" b="1" dirty="0">
                <a:solidFill>
                  <a:srgbClr val="0070C0"/>
                </a:solidFill>
              </a:rPr>
              <a:t>          </a:t>
            </a:r>
            <a:r>
              <a:rPr lang="ko-KR" altLang="en-US" sz="2000" b="1" dirty="0">
                <a:solidFill>
                  <a:srgbClr val="0070C0"/>
                </a:solidFill>
              </a:rPr>
              <a:t>분류하는 시스템을 구현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주요 내용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얼굴 이미지 데이터를 수집하고 </a:t>
            </a:r>
            <a:r>
              <a:rPr lang="ko-KR" altLang="en-US" sz="2000" b="1" dirty="0" err="1">
                <a:solidFill>
                  <a:srgbClr val="0070C0"/>
                </a:solidFill>
              </a:rPr>
              <a:t>전처리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0070C0"/>
                </a:solidFill>
              </a:rPr>
              <a:t>CNN </a:t>
            </a:r>
            <a:r>
              <a:rPr lang="ko-KR" altLang="en-US" sz="2000" b="1" dirty="0">
                <a:solidFill>
                  <a:srgbClr val="0070C0"/>
                </a:solidFill>
              </a:rPr>
              <a:t>모델을 설계하고 학습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학습된 모델로 마스크 착용 여부를 분류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테스트 이미지를 통해 결과를 검증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5EE9E-01E1-4FDA-B454-FA4663D36991}"/>
              </a:ext>
            </a:extLst>
          </p:cNvPr>
          <p:cNvSpPr txBox="1"/>
          <p:nvPr/>
        </p:nvSpPr>
        <p:spPr>
          <a:xfrm>
            <a:off x="583552" y="4178640"/>
            <a:ext cx="30668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0070C0"/>
                </a:solidFill>
              </a:rPr>
              <a:t>주요 결과  </a:t>
            </a:r>
            <a:r>
              <a:rPr lang="en-US" altLang="ko-KR" sz="2000" b="1" dirty="0">
                <a:solidFill>
                  <a:srgbClr val="0070C0"/>
                </a:solidFill>
              </a:rPr>
              <a:t>(</a:t>
            </a:r>
            <a:r>
              <a:rPr lang="ko-KR" altLang="en-US" sz="2000" b="1" dirty="0">
                <a:solidFill>
                  <a:srgbClr val="0070C0"/>
                </a:solidFill>
              </a:rPr>
              <a:t>주요 그림</a:t>
            </a:r>
            <a:r>
              <a:rPr lang="en-US" altLang="ko-KR" sz="2000" b="1" dirty="0">
                <a:solidFill>
                  <a:srgbClr val="0070C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FBECCE-77C6-4500-B65E-7918E4166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793" y="3394509"/>
            <a:ext cx="1954635" cy="28162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586BC8-EBE0-4488-A385-6339DE690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174" y="3410464"/>
            <a:ext cx="1954635" cy="28003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131F0F0-62B1-4238-A7D4-78A5540964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786" y="3993160"/>
            <a:ext cx="2050007" cy="221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59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7800C-898A-43C2-9C20-0391B979FDA8}"/>
              </a:ext>
            </a:extLst>
          </p:cNvPr>
          <p:cNvSpPr txBox="1"/>
          <p:nvPr/>
        </p:nvSpPr>
        <p:spPr>
          <a:xfrm>
            <a:off x="583552" y="477157"/>
            <a:ext cx="1101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rgbClr val="0070C0"/>
                </a:solidFill>
              </a:rPr>
              <a:t>내용 </a:t>
            </a:r>
            <a:r>
              <a:rPr lang="en-US" altLang="ko-KR" sz="3200" b="1" dirty="0">
                <a:solidFill>
                  <a:srgbClr val="0070C0"/>
                </a:solidFill>
              </a:rPr>
              <a:t> </a:t>
            </a:r>
            <a:endParaRPr lang="ko-KR" altLang="en-US" sz="32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7378C-8F8E-4B8A-A327-0F07E360A17B}"/>
              </a:ext>
            </a:extLst>
          </p:cNvPr>
          <p:cNvSpPr txBox="1"/>
          <p:nvPr/>
        </p:nvSpPr>
        <p:spPr>
          <a:xfrm>
            <a:off x="676656" y="1517904"/>
            <a:ext cx="9878025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</a:rPr>
              <a:t> 이 프로젝트는 </a:t>
            </a:r>
            <a:r>
              <a:rPr lang="en-US" altLang="ko-KR" sz="2000" b="1" dirty="0">
                <a:solidFill>
                  <a:srgbClr val="0070C0"/>
                </a:solidFill>
              </a:rPr>
              <a:t>CNN(</a:t>
            </a:r>
            <a:r>
              <a:rPr lang="ko-KR" altLang="en-US" sz="2000" b="1" dirty="0" err="1">
                <a:solidFill>
                  <a:srgbClr val="0070C0"/>
                </a:solidFill>
              </a:rPr>
              <a:t>합성곱</a:t>
            </a:r>
            <a:r>
              <a:rPr lang="ko-KR" altLang="en-US" sz="2000" b="1" dirty="0">
                <a:solidFill>
                  <a:srgbClr val="0070C0"/>
                </a:solidFill>
              </a:rPr>
              <a:t> 신경망</a:t>
            </a:r>
            <a:r>
              <a:rPr lang="en-US" altLang="ko-KR" sz="2000" b="1" dirty="0">
                <a:solidFill>
                  <a:srgbClr val="0070C0"/>
                </a:solidFill>
              </a:rPr>
              <a:t>)</a:t>
            </a:r>
            <a:r>
              <a:rPr lang="ko-KR" altLang="en-US" sz="2000" b="1" dirty="0">
                <a:solidFill>
                  <a:srgbClr val="0070C0"/>
                </a:solidFill>
              </a:rPr>
              <a:t>을 이용하여 얼굴 이미지에서 마스크 착용 여부를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분류하는 모델을 구현한 것 입니다</a:t>
            </a:r>
            <a:r>
              <a:rPr lang="en-US" altLang="ko-KR" sz="2000" b="1" dirty="0">
                <a:solidFill>
                  <a:srgbClr val="0070C0"/>
                </a:solidFill>
              </a:rPr>
              <a:t>.</a:t>
            </a:r>
          </a:p>
          <a:p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</a:p>
          <a:p>
            <a:r>
              <a:rPr lang="ko-KR" altLang="en-US" sz="2000" b="1" dirty="0">
                <a:solidFill>
                  <a:srgbClr val="0070C0"/>
                </a:solidFill>
              </a:rPr>
              <a:t> 먼저 이미지 데이터는 </a:t>
            </a:r>
            <a:r>
              <a:rPr lang="en-US" altLang="ko-KR" sz="2000" b="1" dirty="0" err="1">
                <a:solidFill>
                  <a:srgbClr val="0070C0"/>
                </a:solidFill>
              </a:rPr>
              <a:t>with_mask</a:t>
            </a:r>
            <a:r>
              <a:rPr lang="ko-KR" altLang="en-US" sz="2000" b="1" dirty="0">
                <a:solidFill>
                  <a:srgbClr val="0070C0"/>
                </a:solidFill>
              </a:rPr>
              <a:t>와 </a:t>
            </a:r>
            <a:r>
              <a:rPr lang="en-US" altLang="ko-KR" sz="2000" b="1" dirty="0" err="1">
                <a:solidFill>
                  <a:srgbClr val="0070C0"/>
                </a:solidFill>
              </a:rPr>
              <a:t>without_mask</a:t>
            </a: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</a:rPr>
              <a:t>두 가지 클래스로 구성하였고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en-US" altLang="ko-KR" sz="2000" b="1" dirty="0" err="1">
                <a:solidFill>
                  <a:srgbClr val="0070C0"/>
                </a:solidFill>
              </a:rPr>
              <a:t>ImageDataGenerator</a:t>
            </a:r>
            <a:r>
              <a:rPr lang="ko-KR" altLang="en-US" sz="2000" b="1" dirty="0">
                <a:solidFill>
                  <a:srgbClr val="0070C0"/>
                </a:solidFill>
              </a:rPr>
              <a:t>를</a:t>
            </a: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</a:rPr>
              <a:t>이용하여 이미지 크기 조정과 정규화를 수행한 뒤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학습 데이터와 검증 데이터로 분류하였습니다</a:t>
            </a:r>
            <a:r>
              <a:rPr lang="en-US" altLang="ko-KR" sz="2000" b="1" dirty="0">
                <a:solidFill>
                  <a:srgbClr val="0070C0"/>
                </a:solidFill>
              </a:rPr>
              <a:t>.</a:t>
            </a:r>
          </a:p>
          <a:p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 이후 </a:t>
            </a:r>
            <a:r>
              <a:rPr lang="ko-KR" altLang="en-US" sz="2000" b="1" dirty="0" err="1">
                <a:solidFill>
                  <a:srgbClr val="0070C0"/>
                </a:solidFill>
              </a:rPr>
              <a:t>합성곱층과</a:t>
            </a:r>
            <a:r>
              <a:rPr lang="ko-KR" altLang="en-US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 err="1">
                <a:solidFill>
                  <a:srgbClr val="0070C0"/>
                </a:solidFill>
              </a:rPr>
              <a:t>풀림층을</a:t>
            </a:r>
            <a:r>
              <a:rPr lang="ko-KR" altLang="en-US" sz="2000" b="1" dirty="0">
                <a:solidFill>
                  <a:srgbClr val="0070C0"/>
                </a:solidFill>
              </a:rPr>
              <a:t> 이용해 이미지의 특징을 추출하고</a:t>
            </a:r>
            <a:r>
              <a:rPr lang="en-US" altLang="ko-KR" sz="2000" b="1" dirty="0">
                <a:solidFill>
                  <a:srgbClr val="0070C0"/>
                </a:solidFill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</a:rPr>
              <a:t>완전 연결층을 통해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최종적으로 이진 분류가 가능하도록 모델을 설계하였습니다</a:t>
            </a:r>
            <a:r>
              <a:rPr lang="en-US" altLang="ko-KR" sz="2000" b="1" dirty="0">
                <a:solidFill>
                  <a:srgbClr val="0070C0"/>
                </a:solidFill>
              </a:rPr>
              <a:t>.</a:t>
            </a:r>
          </a:p>
          <a:p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 마지막으로 학습된 데이터 모델을 이용하여 새로운 이미지를 입력하면 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마스크 착용 여부를 자동으로 판단하고 그 결과를 시각적으로 확인할 수 있도록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r>
              <a:rPr lang="ko-KR" altLang="en-US" sz="2000" b="1" dirty="0">
                <a:solidFill>
                  <a:srgbClr val="0070C0"/>
                </a:solidFill>
              </a:rPr>
              <a:t>구현하였습니다</a:t>
            </a:r>
            <a:r>
              <a:rPr lang="en-US" altLang="ko-KR" sz="2000" b="1" dirty="0">
                <a:solidFill>
                  <a:srgbClr val="0070C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66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7800C-898A-43C2-9C20-0391B979FDA8}"/>
              </a:ext>
            </a:extLst>
          </p:cNvPr>
          <p:cNvSpPr txBox="1"/>
          <p:nvPr/>
        </p:nvSpPr>
        <p:spPr>
          <a:xfrm>
            <a:off x="583552" y="477157"/>
            <a:ext cx="1101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rgbClr val="0070C0"/>
                </a:solidFill>
              </a:rPr>
              <a:t>1. </a:t>
            </a:r>
            <a:r>
              <a:rPr lang="ko-KR" altLang="en-US" sz="3200" b="1" dirty="0">
                <a:solidFill>
                  <a:srgbClr val="0070C0"/>
                </a:solidFill>
              </a:rPr>
              <a:t>실험 결과 </a:t>
            </a:r>
            <a:r>
              <a:rPr lang="en-US" altLang="ko-KR" sz="3200" b="1" dirty="0">
                <a:solidFill>
                  <a:srgbClr val="0070C0"/>
                </a:solidFill>
              </a:rPr>
              <a:t>(</a:t>
            </a:r>
            <a:r>
              <a:rPr lang="ko-KR" altLang="en-US" sz="3200" b="1" dirty="0" err="1">
                <a:solidFill>
                  <a:srgbClr val="0070C0"/>
                </a:solidFill>
              </a:rPr>
              <a:t>여려장</a:t>
            </a:r>
            <a:r>
              <a:rPr lang="en-US" altLang="ko-KR" sz="3200" b="1" dirty="0">
                <a:solidFill>
                  <a:srgbClr val="0070C0"/>
                </a:solidFill>
              </a:rPr>
              <a:t>, </a:t>
            </a:r>
            <a:r>
              <a:rPr lang="ko-KR" altLang="en-US" sz="3200" b="1" dirty="0">
                <a:solidFill>
                  <a:srgbClr val="0070C0"/>
                </a:solidFill>
              </a:rPr>
              <a:t>결과 그래프</a:t>
            </a:r>
            <a:r>
              <a:rPr lang="en-US" altLang="ko-KR" sz="3200" b="1" dirty="0">
                <a:solidFill>
                  <a:srgbClr val="0070C0"/>
                </a:solidFill>
              </a:rPr>
              <a:t>)</a:t>
            </a:r>
            <a:r>
              <a:rPr lang="ko-KR" altLang="en-US" sz="3200" b="1" dirty="0">
                <a:solidFill>
                  <a:srgbClr val="0070C0"/>
                </a:solidFill>
              </a:rPr>
              <a:t> </a:t>
            </a:r>
            <a:r>
              <a:rPr lang="en-US" altLang="ko-KR" sz="3200" b="1" dirty="0">
                <a:solidFill>
                  <a:srgbClr val="0070C0"/>
                </a:solidFill>
              </a:rPr>
              <a:t> </a:t>
            </a:r>
            <a:endParaRPr lang="ko-KR" altLang="en-US" sz="32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7378C-8F8E-4B8A-A327-0F07E360A17B}"/>
              </a:ext>
            </a:extLst>
          </p:cNvPr>
          <p:cNvSpPr txBox="1"/>
          <p:nvPr/>
        </p:nvSpPr>
        <p:spPr>
          <a:xfrm>
            <a:off x="583552" y="1230285"/>
            <a:ext cx="1015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0070C0"/>
                </a:solidFill>
              </a:rPr>
              <a:t>주요 </a:t>
            </a:r>
            <a:r>
              <a:rPr lang="en-US" altLang="ko-KR" sz="1800" b="1" dirty="0">
                <a:solidFill>
                  <a:srgbClr val="0070C0"/>
                </a:solidFill>
              </a:rPr>
              <a:t>parameter </a:t>
            </a:r>
            <a:r>
              <a:rPr lang="ko-KR" altLang="en-US" sz="1800" b="1" dirty="0">
                <a:solidFill>
                  <a:srgbClr val="0070C0"/>
                </a:solidFill>
              </a:rPr>
              <a:t>값 변경에 따른   결과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altLang="ko-KR" sz="1800" b="1" dirty="0">
                <a:solidFill>
                  <a:srgbClr val="0070C0"/>
                </a:solidFill>
              </a:rPr>
              <a:t>CNN</a:t>
            </a:r>
            <a:r>
              <a:rPr lang="ko-KR" altLang="en-US" sz="1800" b="1" dirty="0">
                <a:solidFill>
                  <a:srgbClr val="0070C0"/>
                </a:solidFill>
              </a:rPr>
              <a:t> 모델의 성능을 향상시키기 위해 주요 </a:t>
            </a:r>
            <a:r>
              <a:rPr lang="ko-KR" altLang="en-US" sz="1800" b="1" dirty="0" err="1">
                <a:solidFill>
                  <a:srgbClr val="0070C0"/>
                </a:solidFill>
              </a:rPr>
              <a:t>하이퍼파라미터를</a:t>
            </a:r>
            <a:r>
              <a:rPr lang="ko-KR" altLang="en-US" sz="1800" b="1" dirty="0">
                <a:solidFill>
                  <a:srgbClr val="0070C0"/>
                </a:solidFill>
              </a:rPr>
              <a:t> 변경하며 실험 진행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342900" indent="-342900">
              <a:buFontTx/>
              <a:buChar char="-"/>
            </a:pPr>
            <a:r>
              <a:rPr lang="ko-KR" altLang="en-US" sz="1800" b="1" dirty="0">
                <a:solidFill>
                  <a:srgbClr val="0070C0"/>
                </a:solidFill>
              </a:rPr>
              <a:t>각 파라미터가 모델 학습 및 예측 성능에 미치는 영향을 비교 분석</a:t>
            </a:r>
            <a:endParaRPr lang="en-US" altLang="ko-KR" sz="1800" b="1" dirty="0">
              <a:solidFill>
                <a:srgbClr val="0070C0"/>
              </a:solidFill>
            </a:endParaRPr>
          </a:p>
          <a:p>
            <a:pPr marL="342900" indent="-342900">
              <a:buFontTx/>
              <a:buChar char="-"/>
            </a:pPr>
            <a:r>
              <a:rPr lang="ko-KR" altLang="en-US" sz="1800" b="1" dirty="0">
                <a:solidFill>
                  <a:srgbClr val="0070C0"/>
                </a:solidFill>
              </a:rPr>
              <a:t>요약 </a:t>
            </a:r>
            <a:r>
              <a:rPr lang="en-US" altLang="ko-KR" sz="1800" b="1" dirty="0">
                <a:solidFill>
                  <a:srgbClr val="0070C0"/>
                </a:solidFill>
              </a:rPr>
              <a:t>:</a:t>
            </a:r>
            <a:r>
              <a:rPr lang="ko-KR" altLang="en-US" sz="1800" b="1" dirty="0">
                <a:solidFill>
                  <a:srgbClr val="0070C0"/>
                </a:solidFill>
              </a:rPr>
              <a:t> 동일 데이터셋에서 파라미터 변화에 따른 </a:t>
            </a:r>
            <a:r>
              <a:rPr lang="en-US" altLang="ko-KR" sz="1800" b="1" dirty="0">
                <a:solidFill>
                  <a:srgbClr val="0070C0"/>
                </a:solidFill>
              </a:rPr>
              <a:t>CNN </a:t>
            </a:r>
            <a:r>
              <a:rPr lang="ko-KR" altLang="en-US" sz="1800" b="1" dirty="0">
                <a:solidFill>
                  <a:srgbClr val="0070C0"/>
                </a:solidFill>
              </a:rPr>
              <a:t>성능 비교 실험</a:t>
            </a:r>
            <a:endParaRPr lang="en-US" altLang="ko-KR" sz="18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D5D4-E6A8-46CF-8BAE-BC95FC129A1E}"/>
              </a:ext>
            </a:extLst>
          </p:cNvPr>
          <p:cNvSpPr txBox="1"/>
          <p:nvPr/>
        </p:nvSpPr>
        <p:spPr>
          <a:xfrm>
            <a:off x="737616" y="3645408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0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E55A243-DA8F-4324-8A00-FC37E9D25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52" y="4311785"/>
            <a:ext cx="2737895" cy="19059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F32895C-C7FA-41BA-98CC-E144025E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30" y="2422729"/>
            <a:ext cx="2620999" cy="18890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E93B67-4F62-46B1-8F91-79B54B74F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024" y="2422729"/>
            <a:ext cx="2877822" cy="20623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3624BA-6378-44CA-B10C-80A56EF29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742" y="4381973"/>
            <a:ext cx="2840104" cy="19059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5BCC0C4-E4C1-43FB-9E92-FA6B1A1977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423" y="2436906"/>
            <a:ext cx="2716394" cy="19059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2FD56C3-9E0A-457D-8224-062B2BBEC6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8423" y="4311785"/>
            <a:ext cx="2716394" cy="190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6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87800C-898A-43C2-9C20-0391B979FDA8}"/>
              </a:ext>
            </a:extLst>
          </p:cNvPr>
          <p:cNvSpPr txBox="1"/>
          <p:nvPr/>
        </p:nvSpPr>
        <p:spPr>
          <a:xfrm>
            <a:off x="583565" y="476885"/>
            <a:ext cx="11011535" cy="58420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3200" b="1">
                <a:solidFill>
                  <a:srgbClr val="0070C0"/>
                </a:solidFill>
              </a:rPr>
              <a:t>2. </a:t>
            </a:r>
            <a:r>
              <a:rPr lang="ko-KR" altLang="en-US" sz="3200" b="1">
                <a:solidFill>
                  <a:srgbClr val="0070C0"/>
                </a:solidFill>
              </a:rPr>
              <a:t>실험 결과 </a:t>
            </a:r>
            <a:r>
              <a:rPr lang="en-US" altLang="ko-KR" sz="3200" b="1">
                <a:solidFill>
                  <a:srgbClr val="0070C0"/>
                </a:solidFill>
              </a:rPr>
              <a:t>(</a:t>
            </a:r>
            <a:r>
              <a:rPr lang="ko-KR" altLang="en-US" sz="3200" b="1">
                <a:solidFill>
                  <a:srgbClr val="0070C0"/>
                </a:solidFill>
              </a:rPr>
              <a:t>여</a:t>
            </a:r>
            <a:r>
              <a:rPr lang="ko-KR" altLang="en-US" sz="3200" b="1">
                <a:solidFill>
                  <a:srgbClr val="0070C0"/>
                </a:solidFill>
              </a:rPr>
              <a:t>려</a:t>
            </a:r>
            <a:r>
              <a:rPr lang="ko-KR" altLang="en-US" sz="3200" b="1">
                <a:solidFill>
                  <a:srgbClr val="0070C0"/>
                </a:solidFill>
              </a:rPr>
              <a:t>장</a:t>
            </a:r>
            <a:r>
              <a:rPr lang="en-US" altLang="ko-KR" sz="3200" b="1">
                <a:solidFill>
                  <a:srgbClr val="0070C0"/>
                </a:solidFill>
              </a:rPr>
              <a:t>, </a:t>
            </a:r>
            <a:r>
              <a:rPr lang="ko-KR" altLang="en-US" sz="3200" b="1">
                <a:solidFill>
                  <a:srgbClr val="0070C0"/>
                </a:solidFill>
              </a:rPr>
              <a:t>결과 그래프</a:t>
            </a:r>
            <a:r>
              <a:rPr lang="en-US" altLang="ko-KR" sz="3200" b="1">
                <a:solidFill>
                  <a:srgbClr val="0070C0"/>
                </a:solidFill>
              </a:rPr>
              <a:t>)</a:t>
            </a:r>
            <a:r>
              <a:rPr lang="ko-KR" altLang="en-US" sz="3200" b="1">
                <a:solidFill>
                  <a:srgbClr val="0070C0"/>
                </a:solidFill>
              </a:rPr>
              <a:t> </a:t>
            </a:r>
            <a:r>
              <a:rPr lang="en-US" altLang="ko-KR" sz="3200" b="1">
                <a:solidFill>
                  <a:srgbClr val="0070C0"/>
                </a:solidFill>
              </a:rPr>
              <a:t> 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 rot="0">
            <a:off x="583565" y="1229995"/>
            <a:ext cx="10699750" cy="10140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ko-KR" altLang="en-US" sz="2000" b="1">
                <a:solidFill>
                  <a:srgbClr val="0070C0"/>
                </a:solidFill>
              </a:rPr>
              <a:t>필터</a:t>
            </a:r>
            <a:r>
              <a:rPr lang="en-US" altLang="ko-KR" sz="2000" b="1">
                <a:solidFill>
                  <a:srgbClr val="0070C0"/>
                </a:solidFill>
              </a:rPr>
              <a:t>(Kernel) </a:t>
            </a:r>
            <a:r>
              <a:rPr lang="ko-KR" altLang="en-US" sz="2000" b="1">
                <a:solidFill>
                  <a:srgbClr val="0070C0"/>
                </a:solidFill>
              </a:rPr>
              <a:t>개</a:t>
            </a:r>
            <a:r>
              <a:rPr lang="ko-KR" altLang="en-US" sz="2000" b="1">
                <a:solidFill>
                  <a:srgbClr val="0070C0"/>
                </a:solidFill>
              </a:rPr>
              <a:t>수         </a:t>
            </a:r>
            <a:r>
              <a:rPr lang="en-US" altLang="ko-KR" sz="2000" b="1">
                <a:solidFill>
                  <a:srgbClr val="0070C0"/>
                </a:solidFill>
              </a:rPr>
              <a:t>     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3D5D4-E6A8-46CF-8BAE-BC95FC129A1E}"/>
              </a:ext>
            </a:extLst>
          </p:cNvPr>
          <p:cNvSpPr txBox="1"/>
          <p:nvPr/>
        </p:nvSpPr>
        <p:spPr>
          <a:xfrm>
            <a:off x="737870" y="3645535"/>
            <a:ext cx="530860" cy="7080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2000" b="1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0070C0"/>
              </a:solidFill>
            </a:endParaRPr>
          </a:p>
        </p:txBody>
      </p:sp>
      <p:pic>
        <p:nvPicPr>
          <p:cNvPr id="10" name="그림 1" descr="/temp/fImage28350510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9755" y="1668780"/>
            <a:ext cx="5376545" cy="4264660"/>
          </a:xfrm>
          <a:prstGeom prst="rect"/>
          <a:noFill/>
        </p:spPr>
      </p:pic>
      <p:sp>
        <p:nvSpPr>
          <p:cNvPr id="11" name="텍스트 상자 2"/>
          <p:cNvSpPr txBox="1">
            <a:spLocks/>
          </p:cNvSpPr>
          <p:nvPr/>
        </p:nvSpPr>
        <p:spPr>
          <a:xfrm rot="0">
            <a:off x="6187440" y="1691640"/>
            <a:ext cx="5404485" cy="55435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필터 수가 많다고 항상 성능이 향상되는 것은 아니며, 과적합 및 연산량 증가에 따라 성능 차이가 발생할 수 있음을 확인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355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/>
          </p:cNvSpPr>
          <p:nvPr/>
        </p:nvSpPr>
        <p:spPr>
          <a:xfrm rot="0">
            <a:off x="583565" y="476885"/>
            <a:ext cx="11011535" cy="58420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3200" b="1">
                <a:solidFill>
                  <a:srgbClr val="0070C0"/>
                </a:solidFill>
              </a:rPr>
              <a:t>2. </a:t>
            </a:r>
            <a:r>
              <a:rPr lang="ko-KR" altLang="en-US" sz="3200" b="1">
                <a:solidFill>
                  <a:srgbClr val="0070C0"/>
                </a:solidFill>
              </a:rPr>
              <a:t>실험 결과 </a:t>
            </a:r>
            <a:r>
              <a:rPr lang="en-US" altLang="ko-KR" sz="3200" b="1">
                <a:solidFill>
                  <a:srgbClr val="0070C0"/>
                </a:solidFill>
              </a:rPr>
              <a:t>(</a:t>
            </a:r>
            <a:r>
              <a:rPr lang="ko-KR" altLang="en-US" sz="3200" b="1">
                <a:solidFill>
                  <a:srgbClr val="0070C0"/>
                </a:solidFill>
              </a:rPr>
              <a:t>여</a:t>
            </a:r>
            <a:r>
              <a:rPr lang="ko-KR" altLang="en-US" sz="3200" b="1">
                <a:solidFill>
                  <a:srgbClr val="0070C0"/>
                </a:solidFill>
              </a:rPr>
              <a:t>려</a:t>
            </a:r>
            <a:r>
              <a:rPr lang="ko-KR" altLang="en-US" sz="3200" b="1">
                <a:solidFill>
                  <a:srgbClr val="0070C0"/>
                </a:solidFill>
              </a:rPr>
              <a:t>장</a:t>
            </a:r>
            <a:r>
              <a:rPr lang="en-US" altLang="ko-KR" sz="3200" b="1">
                <a:solidFill>
                  <a:srgbClr val="0070C0"/>
                </a:solidFill>
              </a:rPr>
              <a:t>, </a:t>
            </a:r>
            <a:r>
              <a:rPr lang="ko-KR" altLang="en-US" sz="3200" b="1">
                <a:solidFill>
                  <a:srgbClr val="0070C0"/>
                </a:solidFill>
              </a:rPr>
              <a:t>결과 그래프</a:t>
            </a:r>
            <a:r>
              <a:rPr lang="en-US" altLang="ko-KR" sz="3200" b="1">
                <a:solidFill>
                  <a:srgbClr val="0070C0"/>
                </a:solidFill>
              </a:rPr>
              <a:t>)</a:t>
            </a:r>
            <a:r>
              <a:rPr lang="ko-KR" altLang="en-US" sz="3200" b="1">
                <a:solidFill>
                  <a:srgbClr val="0070C0"/>
                </a:solidFill>
              </a:rPr>
              <a:t> </a:t>
            </a:r>
            <a:r>
              <a:rPr lang="en-US" altLang="ko-KR" sz="3200" b="1">
                <a:solidFill>
                  <a:srgbClr val="0070C0"/>
                </a:solidFill>
              </a:rPr>
              <a:t> 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583565" y="1229995"/>
            <a:ext cx="10699750" cy="10140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-</a:t>
            </a:r>
            <a:r>
              <a:rPr lang="ko-KR" altLang="en-US" sz="2000" b="1">
                <a:solidFill>
                  <a:srgbClr val="0070C0"/>
                </a:solidFill>
              </a:rPr>
              <a:t>필터 크기</a:t>
            </a:r>
            <a:r>
              <a:rPr lang="en-US" altLang="ko-KR" sz="2000" b="1">
                <a:solidFill>
                  <a:srgbClr val="0070C0"/>
                </a:solidFill>
              </a:rPr>
              <a:t>(Kernel size)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r>
              <a:rPr lang="en-US" altLang="ko-KR" sz="2000" b="1">
                <a:solidFill>
                  <a:srgbClr val="0070C0"/>
                </a:solidFill>
              </a:rPr>
              <a:t>-</a:t>
            </a:r>
            <a:r>
              <a:rPr lang="en-US" altLang="ko-KR" sz="2000" b="1">
                <a:solidFill>
                  <a:srgbClr val="0070C0"/>
                </a:solidFill>
              </a:rPr>
              <a:t>           </a:t>
            </a:r>
            <a:r>
              <a:rPr lang="en-US" altLang="ko-KR" sz="2000" b="1">
                <a:solidFill>
                  <a:srgbClr val="0070C0"/>
                </a:solidFill>
              </a:rPr>
              <a:t>(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0070C0"/>
                </a:solidFill>
              </a:rPr>
              <a:t>3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0070C0"/>
                </a:solidFill>
              </a:rPr>
              <a:t>x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0070C0"/>
                </a:solidFill>
              </a:rPr>
              <a:t>3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en-US" altLang="ko-KR" sz="2000" b="1">
                <a:solidFill>
                  <a:srgbClr val="0070C0"/>
                </a:solidFill>
              </a:rPr>
              <a:t>)</a:t>
            </a:r>
            <a:r>
              <a:rPr lang="en-US" altLang="ko-KR" sz="2000" b="1">
                <a:solidFill>
                  <a:srgbClr val="0070C0"/>
                </a:solidFill>
              </a:rPr>
              <a:t>                              ( 5 x 5 )                                 ( 7 x 7 )</a:t>
            </a: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/>
        </p:nvSpPr>
        <p:spPr>
          <a:xfrm rot="0">
            <a:off x="737870" y="3645535"/>
            <a:ext cx="531495" cy="7086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pic>
        <p:nvPicPr>
          <p:cNvPr id="12" name="그림 7" descr="/temp/fImage3805687296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1660" y="2628900"/>
            <a:ext cx="3477260" cy="2527300"/>
          </a:xfrm>
          <a:prstGeom prst="rect"/>
          <a:noFill/>
        </p:spPr>
      </p:pic>
      <p:pic>
        <p:nvPicPr>
          <p:cNvPr id="13" name="그림 8" descr="/temp/fImage364198869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138295" y="2674620"/>
            <a:ext cx="3597275" cy="2629535"/>
          </a:xfrm>
          <a:prstGeom prst="rect"/>
          <a:noFill/>
        </p:spPr>
      </p:pic>
      <p:pic>
        <p:nvPicPr>
          <p:cNvPr id="14" name="그림 9" descr="/temp/fImage3706889995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50810" y="2686685"/>
            <a:ext cx="3566795" cy="2618105"/>
          </a:xfrm>
          <a:prstGeom prst="rect"/>
          <a:noFill/>
        </p:spPr>
      </p:pic>
      <p:sp>
        <p:nvSpPr>
          <p:cNvPr id="15" name="텍스트 상자 10"/>
          <p:cNvSpPr txBox="1">
            <a:spLocks/>
          </p:cNvSpPr>
          <p:nvPr/>
        </p:nvSpPr>
        <p:spPr>
          <a:xfrm rot="0">
            <a:off x="872490" y="5543550"/>
            <a:ext cx="10125075" cy="27749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커널 크기가 커질수록 성능이 향상되는 것은 아니며, 데이터 특성에 적합한 크기를 선택하는 것이 중요함을 확인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/>
          </p:cNvSpPr>
          <p:nvPr/>
        </p:nvSpPr>
        <p:spPr>
          <a:xfrm rot="0">
            <a:off x="583565" y="476885"/>
            <a:ext cx="11011535" cy="58420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3200" b="1">
                <a:solidFill>
                  <a:srgbClr val="0070C0"/>
                </a:solidFill>
              </a:rPr>
              <a:t>2. </a:t>
            </a:r>
            <a:r>
              <a:rPr lang="ko-KR" altLang="en-US" sz="3200" b="1">
                <a:solidFill>
                  <a:srgbClr val="0070C0"/>
                </a:solidFill>
              </a:rPr>
              <a:t>실험 결과 </a:t>
            </a:r>
            <a:r>
              <a:rPr lang="en-US" altLang="ko-KR" sz="3200" b="1">
                <a:solidFill>
                  <a:srgbClr val="0070C0"/>
                </a:solidFill>
              </a:rPr>
              <a:t>(</a:t>
            </a:r>
            <a:r>
              <a:rPr lang="ko-KR" altLang="en-US" sz="3200" b="1">
                <a:solidFill>
                  <a:srgbClr val="0070C0"/>
                </a:solidFill>
              </a:rPr>
              <a:t>여</a:t>
            </a:r>
            <a:r>
              <a:rPr lang="ko-KR" altLang="en-US" sz="3200" b="1">
                <a:solidFill>
                  <a:srgbClr val="0070C0"/>
                </a:solidFill>
              </a:rPr>
              <a:t>려</a:t>
            </a:r>
            <a:r>
              <a:rPr lang="ko-KR" altLang="en-US" sz="3200" b="1">
                <a:solidFill>
                  <a:srgbClr val="0070C0"/>
                </a:solidFill>
              </a:rPr>
              <a:t>장</a:t>
            </a:r>
            <a:r>
              <a:rPr lang="en-US" altLang="ko-KR" sz="3200" b="1">
                <a:solidFill>
                  <a:srgbClr val="0070C0"/>
                </a:solidFill>
              </a:rPr>
              <a:t>, </a:t>
            </a:r>
            <a:r>
              <a:rPr lang="ko-KR" altLang="en-US" sz="3200" b="1">
                <a:solidFill>
                  <a:srgbClr val="0070C0"/>
                </a:solidFill>
              </a:rPr>
              <a:t>결과 그래프</a:t>
            </a:r>
            <a:r>
              <a:rPr lang="en-US" altLang="ko-KR" sz="3200" b="1">
                <a:solidFill>
                  <a:srgbClr val="0070C0"/>
                </a:solidFill>
              </a:rPr>
              <a:t>)</a:t>
            </a:r>
            <a:r>
              <a:rPr lang="ko-KR" altLang="en-US" sz="3200" b="1">
                <a:solidFill>
                  <a:srgbClr val="0070C0"/>
                </a:solidFill>
              </a:rPr>
              <a:t> </a:t>
            </a:r>
            <a:r>
              <a:rPr lang="en-US" altLang="ko-KR" sz="3200" b="1">
                <a:solidFill>
                  <a:srgbClr val="0070C0"/>
                </a:solidFill>
              </a:rPr>
              <a:t> 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583565" y="1229995"/>
            <a:ext cx="10699750" cy="13214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-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en-US" altLang="ko-KR" sz="2000" b="1">
                <a:solidFill>
                  <a:srgbClr val="0070C0"/>
                </a:solidFill>
              </a:rPr>
              <a:t>(Stride)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/>
        </p:nvSpPr>
        <p:spPr>
          <a:xfrm rot="0">
            <a:off x="737870" y="3645535"/>
            <a:ext cx="531495" cy="7086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10" name="텍스트 상자 11"/>
          <p:cNvSpPr txBox="1">
            <a:spLocks/>
          </p:cNvSpPr>
          <p:nvPr/>
        </p:nvSpPr>
        <p:spPr>
          <a:xfrm rot="0">
            <a:off x="583565" y="1229995"/>
            <a:ext cx="10699750" cy="13214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-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en-US" altLang="ko-KR" sz="2000" b="1">
                <a:solidFill>
                  <a:srgbClr val="0070C0"/>
                </a:solidFill>
              </a:rPr>
              <a:t>(Stride)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11" name="텍스트 상자 12"/>
          <p:cNvSpPr txBox="1">
            <a:spLocks/>
          </p:cNvSpPr>
          <p:nvPr/>
        </p:nvSpPr>
        <p:spPr>
          <a:xfrm rot="0">
            <a:off x="583565" y="1218565"/>
            <a:ext cx="10699750" cy="16287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-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en-US" altLang="ko-KR" sz="2000" b="1">
                <a:solidFill>
                  <a:srgbClr val="0070C0"/>
                </a:solidFill>
              </a:rPr>
              <a:t>(Stride)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ko-KR" altLang="en-US" sz="2000" b="1">
                <a:solidFill>
                  <a:srgbClr val="0070C0"/>
                </a:solidFill>
              </a:rPr>
              <a:t>필터가 몇 칸씩 이동하면서 사진을 볼 건지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            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ko-KR" altLang="en-US" sz="2000" b="1">
                <a:solidFill>
                  <a:srgbClr val="0070C0"/>
                </a:solidFill>
              </a:rPr>
              <a:t>1                             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ko-KR" altLang="en-US" sz="2000" b="1">
                <a:solidFill>
                  <a:srgbClr val="0070C0"/>
                </a:solidFill>
              </a:rPr>
              <a:t>2                             </a:t>
            </a:r>
            <a:r>
              <a:rPr lang="ko-KR" altLang="en-US" sz="2000" b="1">
                <a:solidFill>
                  <a:srgbClr val="0070C0"/>
                </a:solidFill>
              </a:rPr>
              <a:t>스트라이드</a:t>
            </a:r>
            <a:r>
              <a:rPr lang="ko-KR" altLang="en-US" sz="2000" b="1">
                <a:solidFill>
                  <a:srgbClr val="0070C0"/>
                </a:solidFill>
              </a:rPr>
              <a:t>3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pic>
        <p:nvPicPr>
          <p:cNvPr id="12" name="그림 13" descr="/temp/fImage3565393758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0875" y="2548890"/>
            <a:ext cx="3225165" cy="2321560"/>
          </a:xfrm>
          <a:prstGeom prst="rect"/>
          <a:noFill/>
        </p:spPr>
      </p:pic>
      <p:pic>
        <p:nvPicPr>
          <p:cNvPr id="13" name="그림 14" descr="/temp/fImage3692894485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298315" y="2548890"/>
            <a:ext cx="3235960" cy="2321560"/>
          </a:xfrm>
          <a:prstGeom prst="rect"/>
          <a:noFill/>
        </p:spPr>
      </p:pic>
      <p:pic>
        <p:nvPicPr>
          <p:cNvPr id="14" name="그림 15" descr="/temp/fImage3661995775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059419" y="2548890"/>
            <a:ext cx="3258185" cy="2332990"/>
          </a:xfrm>
          <a:prstGeom prst="rect"/>
          <a:noFill/>
        </p:spPr>
      </p:pic>
      <p:sp>
        <p:nvSpPr>
          <p:cNvPr id="15" name="텍스트 상자 16"/>
          <p:cNvSpPr txBox="1">
            <a:spLocks/>
          </p:cNvSpPr>
          <p:nvPr/>
        </p:nvSpPr>
        <p:spPr>
          <a:xfrm rot="0">
            <a:off x="586105" y="4972050"/>
            <a:ext cx="10571480" cy="110807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스트라이드 값을 변경하며 성능 변화를 비교한 결과, Stride=1에서 가장 높은 검증 정확도를 보였다. 스트라이드 값이 증가할수록 정확도가 점차 감소하는 경향을 확인. </a:t>
            </a:r>
            <a:endParaRPr lang="ko-KR" altLang="en-US" sz="1800">
              <a:latin typeface="나눔바른고딕" charset="0"/>
              <a:ea typeface="나눔바른고딕" charset="0"/>
            </a:endParaRPr>
          </a:p>
          <a:p>
            <a:pPr marL="0" indent="0" algn="l" hangingPunct="1"/>
            <a:endParaRPr lang="ko-KR" altLang="en-US" sz="1800">
              <a:latin typeface="나눔바른고딕" charset="0"/>
              <a:ea typeface="나눔바른고딕" charset="0"/>
            </a:endParaRPr>
          </a:p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 </a:t>
            </a:r>
            <a:r>
              <a:rPr sz="1800">
                <a:latin typeface="나눔바른고딕" charset="0"/>
                <a:ea typeface="나눔바른고딕" charset="0"/>
              </a:rPr>
              <a:t> 필터 이동 간격이 커질수록 이미지 특징 정보를 일부 건너뛰게 되어 세밀한 특징 추출이 어려워졌기 때문으로 판단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/>
          </p:cNvSpPr>
          <p:nvPr/>
        </p:nvSpPr>
        <p:spPr>
          <a:xfrm rot="0">
            <a:off x="583565" y="476885"/>
            <a:ext cx="11011535" cy="58420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en-US" altLang="ko-KR" sz="3200" b="1">
                <a:solidFill>
                  <a:srgbClr val="0070C0"/>
                </a:solidFill>
              </a:rPr>
              <a:t>2. </a:t>
            </a:r>
            <a:r>
              <a:rPr lang="ko-KR" altLang="en-US" sz="3200" b="1">
                <a:solidFill>
                  <a:srgbClr val="0070C0"/>
                </a:solidFill>
              </a:rPr>
              <a:t>실험 결과 </a:t>
            </a:r>
            <a:r>
              <a:rPr lang="en-US" altLang="ko-KR" sz="3200" b="1">
                <a:solidFill>
                  <a:srgbClr val="0070C0"/>
                </a:solidFill>
              </a:rPr>
              <a:t>(</a:t>
            </a:r>
            <a:r>
              <a:rPr lang="ko-KR" altLang="en-US" sz="3200" b="1">
                <a:solidFill>
                  <a:srgbClr val="0070C0"/>
                </a:solidFill>
              </a:rPr>
              <a:t>여</a:t>
            </a:r>
            <a:r>
              <a:rPr lang="ko-KR" altLang="en-US" sz="3200" b="1">
                <a:solidFill>
                  <a:srgbClr val="0070C0"/>
                </a:solidFill>
              </a:rPr>
              <a:t>려</a:t>
            </a:r>
            <a:r>
              <a:rPr lang="ko-KR" altLang="en-US" sz="3200" b="1">
                <a:solidFill>
                  <a:srgbClr val="0070C0"/>
                </a:solidFill>
              </a:rPr>
              <a:t>장</a:t>
            </a:r>
            <a:r>
              <a:rPr lang="en-US" altLang="ko-KR" sz="3200" b="1">
                <a:solidFill>
                  <a:srgbClr val="0070C0"/>
                </a:solidFill>
              </a:rPr>
              <a:t>, </a:t>
            </a:r>
            <a:r>
              <a:rPr lang="ko-KR" altLang="en-US" sz="3200" b="1">
                <a:solidFill>
                  <a:srgbClr val="0070C0"/>
                </a:solidFill>
              </a:rPr>
              <a:t>결과 그래프</a:t>
            </a:r>
            <a:r>
              <a:rPr lang="en-US" altLang="ko-KR" sz="3200" b="1">
                <a:solidFill>
                  <a:srgbClr val="0070C0"/>
                </a:solidFill>
              </a:rPr>
              <a:t>)</a:t>
            </a:r>
            <a:r>
              <a:rPr lang="ko-KR" altLang="en-US" sz="3200" b="1">
                <a:solidFill>
                  <a:srgbClr val="0070C0"/>
                </a:solidFill>
              </a:rPr>
              <a:t> </a:t>
            </a:r>
            <a:r>
              <a:rPr lang="en-US" altLang="ko-KR" sz="3200" b="1">
                <a:solidFill>
                  <a:srgbClr val="0070C0"/>
                </a:solidFill>
              </a:rPr>
              <a:t> </a:t>
            </a:r>
            <a:endParaRPr lang="ko-KR" altLang="en-US" sz="3200" b="1">
              <a:solidFill>
                <a:srgbClr val="0070C0"/>
              </a:solidFill>
            </a:endParaRPr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583565" y="1229995"/>
            <a:ext cx="10699750" cy="16287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- </a:t>
            </a:r>
            <a:r>
              <a:rPr lang="ko-KR" altLang="en-US" sz="2000" b="1">
                <a:solidFill>
                  <a:srgbClr val="0070C0"/>
                </a:solidFill>
              </a:rPr>
              <a:t>패딩</a:t>
            </a:r>
            <a:r>
              <a:rPr lang="en-US" altLang="ko-KR" sz="2000" b="1">
                <a:solidFill>
                  <a:srgbClr val="0070C0"/>
                </a:solidFill>
              </a:rPr>
              <a:t>(padding)</a:t>
            </a:r>
            <a:r>
              <a:rPr lang="en-US" altLang="ko-KR" sz="2000" b="1">
                <a:solidFill>
                  <a:srgbClr val="0070C0"/>
                </a:solidFill>
              </a:rPr>
              <a:t> </a:t>
            </a:r>
            <a:r>
              <a:rPr lang="ko-KR" altLang="en-US" sz="2000" b="1">
                <a:solidFill>
                  <a:srgbClr val="0070C0"/>
                </a:solidFill>
              </a:rPr>
              <a:t>이미지 가장자리에 여백을 줄 건지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</a:rPr>
              <a:t>			Valid(</a:t>
            </a:r>
            <a:r>
              <a:rPr lang="ko-KR" altLang="en-US" sz="2000" b="1">
                <a:solidFill>
                  <a:srgbClr val="0070C0"/>
                </a:solidFill>
              </a:rPr>
              <a:t>여백</a:t>
            </a:r>
            <a:r>
              <a:rPr lang="ko-KR" altLang="en-US" sz="2000" b="1">
                <a:solidFill>
                  <a:srgbClr val="0070C0"/>
                </a:solidFill>
              </a:rPr>
              <a:t>없음)                                           Same(여백있음)</a:t>
            </a: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sp>
        <p:nvSpPr>
          <p:cNvPr id="5" name="Rect 0"/>
          <p:cNvSpPr txBox="1">
            <a:spLocks/>
          </p:cNvSpPr>
          <p:nvPr/>
        </p:nvSpPr>
        <p:spPr>
          <a:xfrm rot="0">
            <a:off x="737870" y="3645535"/>
            <a:ext cx="531495" cy="708660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endParaRPr lang="ko-KR" altLang="en-US" sz="2000" b="1">
              <a:solidFill>
                <a:srgbClr val="0070C0"/>
              </a:solidFill>
            </a:endParaRPr>
          </a:p>
          <a:p>
            <a:pPr marL="342900" indent="-342900">
              <a:buFont typeface="Arial"/>
              <a:buChar char="•"/>
            </a:pPr>
            <a:endParaRPr lang="ko-KR" altLang="en-US" sz="2000" b="1">
              <a:solidFill>
                <a:srgbClr val="0070C0"/>
              </a:solidFill>
            </a:endParaRPr>
          </a:p>
        </p:txBody>
      </p:sp>
      <p:pic>
        <p:nvPicPr>
          <p:cNvPr id="10" name="그림 17" descr="/temp/fImage3720197670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10285" y="2217420"/>
            <a:ext cx="4203065" cy="3018790"/>
          </a:xfrm>
          <a:prstGeom prst="rect"/>
          <a:noFill/>
        </p:spPr>
      </p:pic>
      <p:pic>
        <p:nvPicPr>
          <p:cNvPr id="11" name="그림 18" descr="/temp/fImage37892983628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90945" y="2205990"/>
            <a:ext cx="4215130" cy="3030220"/>
          </a:xfrm>
          <a:prstGeom prst="rect"/>
          <a:noFill/>
        </p:spPr>
      </p:pic>
      <p:sp>
        <p:nvSpPr>
          <p:cNvPr id="12" name="텍스트 상자 19"/>
          <p:cNvSpPr txBox="1">
            <a:spLocks/>
          </p:cNvSpPr>
          <p:nvPr/>
        </p:nvSpPr>
        <p:spPr>
          <a:xfrm rot="0">
            <a:off x="689610" y="5234940"/>
            <a:ext cx="9919335" cy="83121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r>
              <a:rPr sz="1800">
                <a:latin typeface="나눔바른고딕" charset="0"/>
                <a:ea typeface="나눔바른고딕" charset="0"/>
              </a:rPr>
              <a:t>Padding 방식을 변경하며 성능 변화를 비교한 결과, 여백이 없는 Valid 방식에서 더 높은 검증 정확도를 보</a:t>
            </a:r>
            <a:r>
              <a:rPr sz="1800">
                <a:latin typeface="나눔바른고딕" charset="0"/>
                <a:ea typeface="나눔바른고딕" charset="0"/>
              </a:rPr>
              <a:t>임.</a:t>
            </a:r>
            <a:r>
              <a:rPr sz="1800">
                <a:latin typeface="나눔바른고딕" charset="0"/>
                <a:ea typeface="나눔바른고딕" charset="0"/>
              </a:rPr>
              <a:t>반면 Same 방식은 이미지 가장자리 정보를 유지하지만, 본 실험 데이터에서는 성능 향상으로 이어지지 않</a:t>
            </a:r>
            <a:r>
              <a:rPr sz="1800">
                <a:latin typeface="나눔바른고딕" charset="0"/>
                <a:ea typeface="나눔바른고딕" charset="0"/>
              </a:rPr>
              <a:t>음</a:t>
            </a:r>
            <a:r>
              <a:rPr sz="1800">
                <a:latin typeface="나눔바른고딕" charset="0"/>
                <a:ea typeface="나눔바른고딕" charset="0"/>
              </a:rPr>
              <a:t>. 따라서 패딩 적용 여부는 데이터 특성에 따라 성능 차이가 발생할 수 있음을 확인</a:t>
            </a: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중간작업중">
  <a:themeElements>
    <a:clrScheme name="중간작업중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중간작업중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9959" tIns="44979" rIns="89959" bIns="44979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1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Pct val="80000"/>
          <a:buFont typeface="Wingdings" pitchFamily="2" charset="2"/>
          <a:buChar char="n"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9959" tIns="44979" rIns="89959" bIns="44979" numCol="1" anchor="t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1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Pct val="80000"/>
          <a:buFont typeface="Wingdings" pitchFamily="2" charset="2"/>
          <a:buChar char="n"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중간작업중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중간작업중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중간작업중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중간작업중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중간작업중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중간작업중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중간작업중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47</Paragraphs>
  <Words>285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007_00@daum.net</dc:creator>
  <cp:lastModifiedBy>PC</cp:lastModifiedBy>
  <dc:title>PowerPoint 프레젠테이션</dc:title>
  <dcterms:modified xsi:type="dcterms:W3CDTF">2026-05-14T09:42:47Z</dcterms:modified>
</cp:coreProperties>
</file>